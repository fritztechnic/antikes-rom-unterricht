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UNTERRICHTSPRÄSENTATION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D19D3D"/>
                </a:solidFill>
                <a:latin typeface="Aptos"/>
              </a:defRPr>
            </a:pPr>
            <a: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576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C9CDD5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C9CDD5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7498079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Antike Städte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56231"/>
            <a:ext cx="859536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400" b="1">
                <a:solidFill>
                  <a:srgbClr val="D19D3D"/>
                </a:solidFill>
                <a:latin typeface="Aptos"/>
              </a:defRPr>
            </a:pPr>
            <a:r>
              <a:t>am Beispiel Rom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2852928"/>
            <a:ext cx="713232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800" b="0">
                <a:solidFill>
                  <a:srgbClr val="DBE0E8"/>
                </a:solidFill>
                <a:latin typeface="Aptos"/>
              </a:defRPr>
            </a:pPr>
            <a:r>
              <a:t>Wie konnte eine Millionenstadt funktionieren – und für wen?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1078992"/>
            <a:ext cx="2286000" cy="3611880"/>
          </a:xfrm>
          <a:prstGeom prst="roundRect">
            <a:avLst>
              <a:gd name="adj" fmla="val 8000"/>
            </a:avLst>
          </a:prstGeom>
          <a:solidFill>
            <a:srgbClr val="2A37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417320"/>
            <a:ext cx="1645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1">
                <a:solidFill>
                  <a:srgbClr val="D19D3D"/>
                </a:solidFill>
                <a:latin typeface="Aptos"/>
              </a:defRPr>
            </a:pPr>
            <a:r>
              <a:t>45 MINUTEN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1901952"/>
            <a:ext cx="164592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688336"/>
            <a:ext cx="1645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100" b="1">
                <a:solidFill>
                  <a:srgbClr val="DBE0E8"/>
                </a:solidFill>
                <a:latin typeface="Aptos"/>
              </a:defRPr>
            </a:pPr>
            <a:r>
              <a:t>VORTRAGENDE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89720" y="3246120"/>
            <a:ext cx="1463040" cy="0"/>
          </a:xfrm>
          <a:prstGeom prst="line">
            <a:avLst/>
          </a:prstGeom>
          <a:ln w="15240">
            <a:solidFill>
              <a:srgbClr val="6470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98280" y="3493008"/>
            <a:ext cx="16459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Aptos"/>
              </a:defRPr>
            </a:pPr>
            <a:r>
              <a:t>Geschichte · Geografie · Gesellschaft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956048"/>
            <a:ext cx="7132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1">
                <a:solidFill>
                  <a:srgbClr val="DBE0E8"/>
                </a:solidFill>
                <a:latin typeface="Aptos"/>
              </a:defRPr>
            </a:pPr>
            <a:r>
              <a:t>Unterrichtspräsentation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616B7C"/>
                </a:solidFill>
                <a:latin typeface="Aptos"/>
              </a:defRPr>
            </a:pPr>
            <a:r>
              <a:t>ORIENTIERUNG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B84D34"/>
                </a:solidFill>
                <a:latin typeface="Aptos"/>
              </a:defRPr>
            </a:pPr>
            <a:r>
              <a:t>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D6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616B7C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616B7C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192237"/>
                </a:solidFill>
                <a:latin typeface="Aptos"/>
              </a:defRPr>
            </a:pPr>
            <a:r>
              <a:t>Heute klären wir drei Fragen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616B7C"/>
                </a:solidFill>
                <a:latin typeface="Aptos"/>
              </a:defRPr>
            </a:pPr>
            <a:r>
              <a:t>Die Leitfrage hält die ganze Stunde zusammen.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34290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331720"/>
            <a:ext cx="91440" cy="2560320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9463"/>
            <a:ext cx="29900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01 · LAGE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2990088" cy="1627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Warum war die Lage am Tiber für Rom günstig?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9976" y="2331720"/>
            <a:ext cx="34290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2331720"/>
            <a:ext cx="91440" cy="2560320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569463"/>
            <a:ext cx="29900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02 · FUNKTION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108960"/>
            <a:ext cx="2990088" cy="1627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Wie versorgte und organisierte sich die Großstadt?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2331720"/>
            <a:ext cx="342900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3" y="2331720"/>
            <a:ext cx="91440" cy="2560320"/>
          </a:xfrm>
          <a:prstGeom prst="rect">
            <a:avLst/>
          </a:prstGeom>
          <a:solidFill>
            <a:srgbClr val="537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57615" y="2569463"/>
            <a:ext cx="299008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03 · BEWERTUNG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5" y="3108960"/>
            <a:ext cx="2990088" cy="162763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Was machte das Leben in Rom attraktiv – und problematisch?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266944"/>
            <a:ext cx="95097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Lernziel: Ihr könnt Lage, Infrastruktur und soziale Unterschiede miteinander verbinden.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616B7C"/>
                </a:solidFill>
                <a:latin typeface="Aptos"/>
              </a:defRPr>
            </a:pPr>
            <a:r>
              <a:t>ABLAUF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B84D34"/>
                </a:solidFill>
                <a:latin typeface="Aptos"/>
              </a:defRPr>
            </a:pPr>
            <a:r>
              <a:t>03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D6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616B7C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616B7C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192237"/>
                </a:solidFill>
                <a:latin typeface="Aptos"/>
              </a:defRPr>
            </a:pPr>
            <a:r>
              <a:t>Unser Fahrplan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616B7C"/>
                </a:solidFill>
                <a:latin typeface="Aptos"/>
              </a:defRPr>
            </a:pPr>
            <a:r>
              <a:t>Sechs Phasen – ein roter Faden.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99008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B84D34"/>
                </a:solidFill>
                <a:latin typeface="Aptos"/>
              </a:defRPr>
            </a:pPr>
            <a:r>
              <a:t>0–5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401568"/>
            <a:ext cx="1252728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192237"/>
                </a:solidFill>
                <a:latin typeface="Aptos"/>
              </a:defRPr>
            </a:pPr>
            <a:r>
              <a:t>Einstieg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67128" y="3502152"/>
            <a:ext cx="320040" cy="0"/>
          </a:xfrm>
          <a:prstGeom prst="line">
            <a:avLst/>
          </a:prstGeom>
          <a:ln w="25400">
            <a:solidFill>
              <a:srgbClr val="B84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05456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42616" y="299008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B84D34"/>
                </a:solidFill>
                <a:latin typeface="Aptos"/>
              </a:defRPr>
            </a:pPr>
            <a:r>
              <a:t>5–12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3401568"/>
            <a:ext cx="1252728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192237"/>
                </a:solidFill>
                <a:latin typeface="Aptos"/>
              </a:defRPr>
            </a:pPr>
            <a:r>
              <a:t>Lage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14216" y="3502152"/>
            <a:ext cx="320040" cy="0"/>
          </a:xfrm>
          <a:prstGeom prst="line">
            <a:avLst/>
          </a:prstGeom>
          <a:ln w="25400">
            <a:solidFill>
              <a:srgbClr val="B84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52544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9704" y="299008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B84D34"/>
                </a:solidFill>
                <a:latin typeface="Aptos"/>
              </a:defRPr>
            </a:pPr>
            <a:r>
              <a:t>12–19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401568"/>
            <a:ext cx="1252728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192237"/>
                </a:solidFill>
                <a:latin typeface="Aptos"/>
              </a:defRPr>
            </a:pPr>
            <a:r>
              <a:t>Stadtstruktur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861304" y="3502152"/>
            <a:ext cx="320040" cy="0"/>
          </a:xfrm>
          <a:prstGeom prst="line">
            <a:avLst/>
          </a:prstGeom>
          <a:ln w="25400">
            <a:solidFill>
              <a:srgbClr val="B84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99632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299008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B84D34"/>
                </a:solidFill>
                <a:latin typeface="Aptos"/>
              </a:defRPr>
            </a:pPr>
            <a:r>
              <a:t>19–31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3401568"/>
            <a:ext cx="1252728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192237"/>
                </a:solidFill>
                <a:latin typeface="Aptos"/>
              </a:defRPr>
            </a:pPr>
            <a:r>
              <a:t>Gruppenarbeit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08392" y="3502152"/>
            <a:ext cx="320040" cy="0"/>
          </a:xfrm>
          <a:prstGeom prst="line">
            <a:avLst/>
          </a:prstGeom>
          <a:ln w="25400">
            <a:solidFill>
              <a:srgbClr val="B84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046720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299008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B84D34"/>
                </a:solidFill>
                <a:latin typeface="Aptos"/>
              </a:defRPr>
            </a:pPr>
            <a:r>
              <a:t>31–38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3401568"/>
            <a:ext cx="1252728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192237"/>
                </a:solidFill>
                <a:latin typeface="Aptos"/>
              </a:defRPr>
            </a:pPr>
            <a:r>
              <a:t>Quiz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55480" y="3502152"/>
            <a:ext cx="320040" cy="0"/>
          </a:xfrm>
          <a:prstGeom prst="line">
            <a:avLst/>
          </a:prstGeom>
          <a:ln w="25400">
            <a:solidFill>
              <a:srgbClr val="B84D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93808" y="2743200"/>
            <a:ext cx="150876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30968" y="2990088"/>
            <a:ext cx="123444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1">
                <a:solidFill>
                  <a:srgbClr val="B84D34"/>
                </a:solidFill>
                <a:latin typeface="Aptos"/>
              </a:defRPr>
            </a:pPr>
            <a:r>
              <a:t>38–45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3401568"/>
            <a:ext cx="1252728" cy="438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400" b="1">
                <a:solidFill>
                  <a:srgbClr val="192237"/>
                </a:solidFill>
                <a:latin typeface="Aptos"/>
              </a:defRPr>
            </a:pPr>
            <a:r>
              <a:t>Sicherung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956048"/>
            <a:ext cx="1051560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0">
                <a:solidFill>
                  <a:srgbClr val="616B7C"/>
                </a:solidFill>
                <a:latin typeface="Aptos"/>
              </a:defRPr>
            </a:pPr>
            <a:r>
              <a:t>Tipp für das Team: Die Übergaben erfolgen jeweils mit einer Frage statt mit einer Zusammenfassung.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EINSTIEG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D19D3D"/>
                </a:solidFill>
                <a:latin typeface="Aptos"/>
              </a:defRPr>
            </a:pPr>
            <a:r>
              <a:t>04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576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C9CDD5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C9CDD5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Was braucht eine große Stadt?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D2D7DF"/>
                </a:solidFill>
                <a:latin typeface="Aptos"/>
              </a:defRPr>
            </a:pPr>
            <a:r>
              <a:t>Denkt zunächst an Menschen, nicht an Gebäude.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331720"/>
            <a:ext cx="10835640" cy="2560320"/>
          </a:xfrm>
          <a:prstGeom prst="roundRect">
            <a:avLst>
              <a:gd name="adj" fmla="val 8000"/>
            </a:avLst>
          </a:prstGeom>
          <a:solidFill>
            <a:srgbClr val="2B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743200"/>
            <a:ext cx="99669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„Stellt euch vor, eine Million Menschen lebt an einem 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01568"/>
            <a:ext cx="9966960" cy="548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2400" b="1">
                <a:solidFill>
                  <a:srgbClr val="D19D3D"/>
                </a:solidFill>
                <a:latin typeface="Aptos"/>
              </a:defRPr>
            </a:pPr>
            <a:r>
              <a:t>Was muss jeden Tag zuverlässig funktionieren?“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257800"/>
            <a:ext cx="1042416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600" b="0">
                <a:solidFill>
                  <a:srgbClr val="DBE0E8"/>
                </a:solidFill>
                <a:latin typeface="Aptos"/>
              </a:defRPr>
            </a:pPr>
            <a:r>
              <a:t>Sammelt: Wasser · Nahrung · Wohnen · Verkehr · Sicherheit · Begegnung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616B7C"/>
                </a:solidFill>
                <a:latin typeface="Aptos"/>
              </a:defRPr>
            </a:pPr>
            <a:r>
              <a:t>GEOGRAFIE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B84D34"/>
                </a:solidFill>
                <a:latin typeface="Aptos"/>
              </a:defRPr>
            </a:pPr>
            <a:r>
              <a:t>05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D6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616B7C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616B7C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192237"/>
                </a:solidFill>
                <a:latin typeface="Aptos"/>
              </a:defRPr>
            </a:pPr>
            <a:r>
              <a:t>Rom: günstig gelegen, gut verbunden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616B7C"/>
                </a:solidFill>
                <a:latin typeface="Aptos"/>
              </a:defRPr>
            </a:pPr>
            <a:r>
              <a:t>Sprecht mit der Klasse über die Begriffe Tiber, Hügel und Ostia.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40280"/>
            <a:ext cx="3383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240280"/>
            <a:ext cx="91440" cy="2606040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78024"/>
            <a:ext cx="29443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TIBER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2944368" cy="1673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Der Fluss bot Transport, Handel und Zugang zu Wasser.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2240280"/>
            <a:ext cx="3383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07408" y="2240280"/>
            <a:ext cx="91440" cy="2606040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478024"/>
            <a:ext cx="29443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SIEBEN HÜGEL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17520"/>
            <a:ext cx="2944368" cy="1673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Erhöhte, trockenere Flächen erleichterten Siedlung und Verteidigung.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6448" y="2240280"/>
            <a:ext cx="338328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2240280"/>
            <a:ext cx="91440" cy="2606040"/>
          </a:xfrm>
          <a:prstGeom prst="rect">
            <a:avLst/>
          </a:prstGeom>
          <a:solidFill>
            <a:srgbClr val="537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478024"/>
            <a:ext cx="294436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OSTIA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017520"/>
            <a:ext cx="2944368" cy="167335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Der Hafen verband Rom mit Waren aus dem gesamten Mittelmeerraum.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" y="5257800"/>
            <a:ext cx="1042416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616B7C"/>
                </a:solidFill>
                <a:latin typeface="Aptos"/>
              </a:defRPr>
            </a:pPr>
            <a:r>
              <a:t>Visual-Hinweis: Hier kann später eine eigene Lagekarte eingefügt werden.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616B7C"/>
                </a:solidFill>
                <a:latin typeface="Aptos"/>
              </a:defRPr>
            </a:pPr>
            <a:r>
              <a:t>STADTSTRUKTUR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B84D34"/>
                </a:solidFill>
                <a:latin typeface="Aptos"/>
              </a:defRPr>
            </a:pPr>
            <a:r>
              <a:t>06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D6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616B7C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616B7C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192237"/>
                </a:solidFill>
                <a:latin typeface="Aptos"/>
              </a:defRPr>
            </a:pPr>
            <a:r>
              <a:t>Eine Stadt als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616B7C"/>
                </a:solidFill>
                <a:latin typeface="Aptos"/>
              </a:defRPr>
            </a:pPr>
            <a:r>
              <a:t>Alle Bereiche hängen zusammen.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9456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194560"/>
            <a:ext cx="91440" cy="1143000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32304"/>
            <a:ext cx="47274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Forum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4727448" cy="21031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Politik, Recht und Handel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9456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94560"/>
            <a:ext cx="91440" cy="1143000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432304"/>
            <a:ext cx="47274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Aquädukte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971800"/>
            <a:ext cx="4727448" cy="21031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Frischwasser für Brunnen und Thermen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0332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" y="3703320"/>
            <a:ext cx="91440" cy="1143000"/>
          </a:xfrm>
          <a:prstGeom prst="rect">
            <a:avLst/>
          </a:prstGeom>
          <a:solidFill>
            <a:srgbClr val="537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41063"/>
            <a:ext cx="47274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Straßen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80559"/>
            <a:ext cx="4727448" cy="21031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Bewegung von Menschen, Gütern und Nachrichten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03320"/>
            <a:ext cx="51663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703320"/>
            <a:ext cx="91440" cy="1143000"/>
          </a:xfrm>
          <a:prstGeom prst="rect">
            <a:avLst/>
          </a:prstGeom>
          <a:solidFill>
            <a:srgbClr val="5D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941063"/>
            <a:ext cx="47274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Wohnviertel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480559"/>
            <a:ext cx="4727448" cy="210311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Domus und Insulae: sehr ungleiche Lebenswelten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5413248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Merksatz: Infrastruktur machte das Wachstum möglich, löste aber nicht alle Probleme.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ALLTAG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D19D3D"/>
                </a:solidFill>
                <a:latin typeface="Aptos"/>
              </a:defRPr>
            </a:pPr>
            <a:r>
              <a:t>07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576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C9CDD5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C9CDD5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Leben in Rom: Komfort und Risiko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D2D7DF"/>
                </a:solidFill>
                <a:latin typeface="Aptos"/>
              </a:defRPr>
            </a:pPr>
            <a:r>
              <a:t>Die Stadt war nicht für alle Menschen gleich.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40280"/>
            <a:ext cx="5166360" cy="2697480"/>
          </a:xfrm>
          <a:prstGeom prst="roundRect">
            <a:avLst>
              <a:gd name="adj" fmla="val 8000"/>
            </a:avLst>
          </a:prstGeom>
          <a:solidFill>
            <a:srgbClr val="2B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240280"/>
            <a:ext cx="91440" cy="2697480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78024"/>
            <a:ext cx="47274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VORTEILE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727448" cy="1764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E1E4EA"/>
                </a:solidFill>
                <a:latin typeface="Aptos"/>
              </a:defRPr>
            </a:pPr>
            <a:r>
              <a:t>•  Arbeits- und Handelsmöglichkeiten</a:t>
            </a:r>
          </a:p>
          <a:p>
            <a:pPr>
              <a:spcAft>
                <a:spcPts val="1000"/>
              </a:spcAft>
              <a:defRPr sz="1300">
                <a:solidFill>
                  <a:srgbClr val="E1E4EA"/>
                </a:solidFill>
                <a:latin typeface="Aptos"/>
              </a:defRPr>
            </a:pPr>
            <a:r>
              <a:t>•  Thermen, Märkte und öffentliche Räume</a:t>
            </a:r>
          </a:p>
          <a:p>
            <a:pPr>
              <a:spcAft>
                <a:spcPts val="1000"/>
              </a:spcAft>
              <a:defRPr sz="1300">
                <a:solidFill>
                  <a:srgbClr val="E1E4EA"/>
                </a:solidFill>
                <a:latin typeface="Aptos"/>
              </a:defRPr>
            </a:pPr>
            <a:r>
              <a:t>•  Wasser- und Verkehrsnetze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2240280"/>
            <a:ext cx="5166360" cy="2697480"/>
          </a:xfrm>
          <a:prstGeom prst="roundRect">
            <a:avLst>
              <a:gd name="adj" fmla="val 8000"/>
            </a:avLst>
          </a:prstGeom>
          <a:solidFill>
            <a:srgbClr val="2B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0280"/>
            <a:ext cx="91440" cy="2697480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478024"/>
            <a:ext cx="47274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HERAUSFORDERUNGEN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017520"/>
            <a:ext cx="4727448" cy="176479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E1E4EA"/>
                </a:solidFill>
                <a:latin typeface="Aptos"/>
              </a:defRPr>
            </a:pPr>
            <a:r>
              <a:t>•  Enge und Brandgefahr in Insulae</a:t>
            </a:r>
          </a:p>
          <a:p>
            <a:pPr>
              <a:spcAft>
                <a:spcPts val="1000"/>
              </a:spcAft>
              <a:defRPr sz="1300">
                <a:solidFill>
                  <a:srgbClr val="E1E4EA"/>
                </a:solidFill>
                <a:latin typeface="Aptos"/>
              </a:defRPr>
            </a:pPr>
            <a:r>
              <a:t>•  Müll, Abwasser und Krankheiten</a:t>
            </a:r>
          </a:p>
          <a:p>
            <a:pPr>
              <a:spcAft>
                <a:spcPts val="1000"/>
              </a:spcAft>
              <a:defRPr sz="1300">
                <a:solidFill>
                  <a:srgbClr val="E1E4EA"/>
                </a:solidFill>
                <a:latin typeface="Aptos"/>
              </a:defRPr>
            </a:pPr>
            <a:r>
              <a:t>•  Abhängigkeit von Versorgung und Verwaltung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616B7C"/>
                </a:solidFill>
                <a:latin typeface="Aptos"/>
              </a:defRPr>
            </a:pPr>
            <a:r>
              <a:t>GRUPPENARBEIT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B84D34"/>
                </a:solidFill>
                <a:latin typeface="Aptos"/>
              </a:defRPr>
            </a:pPr>
            <a: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D6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616B7C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616B7C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192237"/>
                </a:solidFill>
                <a:latin typeface="Aptos"/>
              </a:defRPr>
            </a:pPr>
            <a:r>
              <a:t>Vier Gruppen – vier Perspektiven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616B7C"/>
                </a:solidFill>
                <a:latin typeface="Aptos"/>
              </a:defRPr>
            </a:pPr>
            <a:r>
              <a:t>Arbeitszeit: 12 Minuten · Ergebnis: ein präziser Erklärungssatz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4884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04872"/>
            <a:ext cx="4114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B84D3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350008"/>
            <a:ext cx="3886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1">
                <a:solidFill>
                  <a:srgbClr val="192237"/>
                </a:solidFill>
                <a:latin typeface="Aptos"/>
              </a:defRPr>
            </a:pPr>
            <a:r>
              <a:t>Lage &amp; Orientierung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770632"/>
            <a:ext cx="3886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Warum war dieser Ort geeignet?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40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2404872"/>
            <a:ext cx="4114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B84D3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350008"/>
            <a:ext cx="3886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1">
                <a:solidFill>
                  <a:srgbClr val="192237"/>
                </a:solidFill>
                <a:latin typeface="Aptos"/>
              </a:defRPr>
            </a:pPr>
            <a:r>
              <a:t>Versorgung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770632"/>
            <a:ext cx="3886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Wie kamen Wasser und Waren in die Stadt?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4903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05072"/>
            <a:ext cx="4114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B84D3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950207"/>
            <a:ext cx="3886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1">
                <a:solidFill>
                  <a:srgbClr val="192237"/>
                </a:solidFill>
                <a:latin typeface="Aptos"/>
              </a:defRPr>
            </a:pPr>
            <a:r>
              <a:t>Wohnen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370831"/>
            <a:ext cx="3886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Wie unterschieden sich Domus und Insulae?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49039"/>
            <a:ext cx="5166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4005072"/>
            <a:ext cx="41148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800" b="1">
                <a:solidFill>
                  <a:srgbClr val="B84D3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86600" y="3950207"/>
            <a:ext cx="388620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1">
                <a:solidFill>
                  <a:srgbClr val="192237"/>
                </a:solidFill>
                <a:latin typeface="Aptos"/>
              </a:defRPr>
            </a:pPr>
            <a:r>
              <a:t>Bewertung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600" y="4370831"/>
            <a:ext cx="388620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0">
                <a:solidFill>
                  <a:srgbClr val="616B7C"/>
                </a:solidFill>
                <a:latin typeface="Aptos"/>
              </a:defRPr>
            </a:pPr>
            <a:r>
              <a:t>Was würdet ihr für eine neue Stadt übernehmen?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" y="5413248"/>
            <a:ext cx="103327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400" b="1">
                <a:solidFill>
                  <a:srgbClr val="192237"/>
                </a:solidFill>
                <a:latin typeface="Aptos"/>
              </a:defRPr>
            </a:pPr>
            <a:r>
              <a:t>Arbeitsauftrag: Notiert Funktion, Nutzen und Problem. Formuliert dann: „Wichtig war unser Bereich, weil …“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616B7C"/>
                </a:solidFill>
                <a:latin typeface="Aptos"/>
              </a:defRPr>
            </a:pPr>
            <a:r>
              <a:t>PRÄSENTATION IM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B84D34"/>
                </a:solidFill>
                <a:latin typeface="Aptos"/>
              </a:defRPr>
            </a:pPr>
            <a:r>
              <a:t>09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D6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616B7C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616B7C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192237"/>
                </a:solidFill>
                <a:latin typeface="Aptos"/>
              </a:defRPr>
            </a:pPr>
            <a:r>
              <a:t>Sprechrollen klar verteilen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616B7C"/>
                </a:solidFill>
                <a:latin typeface="Aptos"/>
              </a:defRPr>
            </a:pPr>
            <a:r>
              <a:t>Jede Person führt einen eigenen, erkennbaren Teil.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86000"/>
            <a:ext cx="244144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286000"/>
            <a:ext cx="91440" cy="2651760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23744"/>
            <a:ext cx="20025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Person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2002536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616B7C"/>
                </a:solidFill>
                <a:latin typeface="Aptos"/>
              </a:defRPr>
            </a:pPr>
            <a:r>
              <a:t>•  Einstieg &amp; Lage</a:t>
            </a:r>
          </a:p>
          <a:p>
            <a:pPr>
              <a:spcAft>
                <a:spcPts val="1000"/>
              </a:spcAft>
              <a:defRPr sz="1300">
                <a:solidFill>
                  <a:srgbClr val="616B7C"/>
                </a:solidFill>
                <a:latin typeface="Aptos"/>
              </a:defRPr>
            </a:pPr>
            <a:r>
              <a:t>•  Frage öffnen · Tiber, Hügel und Ostia erklären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01568" y="2286000"/>
            <a:ext cx="244144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2286000"/>
            <a:ext cx="91440" cy="2651760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523744"/>
            <a:ext cx="20025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Person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063240"/>
            <a:ext cx="2002536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616B7C"/>
                </a:solidFill>
                <a:latin typeface="Aptos"/>
              </a:defRPr>
            </a:pPr>
            <a:r>
              <a:t>•  Stadtstruktur</a:t>
            </a:r>
          </a:p>
          <a:p>
            <a:pPr>
              <a:spcAft>
                <a:spcPts val="1000"/>
              </a:spcAft>
              <a:defRPr sz="1300">
                <a:solidFill>
                  <a:srgbClr val="616B7C"/>
                </a:solidFill>
                <a:latin typeface="Aptos"/>
              </a:defRPr>
            </a:pPr>
            <a:r>
              <a:t>•  Forum, Straßen und Wasserversorgung verknüpfen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286000"/>
            <a:ext cx="244144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2286000"/>
            <a:ext cx="91440" cy="2651760"/>
          </a:xfrm>
          <a:prstGeom prst="rect">
            <a:avLst/>
          </a:prstGeom>
          <a:solidFill>
            <a:srgbClr val="537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523744"/>
            <a:ext cx="20025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Person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063240"/>
            <a:ext cx="2002536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616B7C"/>
                </a:solidFill>
                <a:latin typeface="Aptos"/>
              </a:defRPr>
            </a:pPr>
            <a:r>
              <a:t>•  Quiz &amp; Alltag</a:t>
            </a:r>
          </a:p>
          <a:p>
            <a:pPr>
              <a:spcAft>
                <a:spcPts val="1000"/>
              </a:spcAft>
              <a:defRPr sz="1300">
                <a:solidFill>
                  <a:srgbClr val="616B7C"/>
                </a:solidFill>
                <a:latin typeface="Aptos"/>
              </a:defRPr>
            </a:pPr>
            <a:r>
              <a:t>•  Wohnprobleme besprechen · Quiz moderieren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87968" y="2286000"/>
            <a:ext cx="2441448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87968" y="2286000"/>
            <a:ext cx="91440" cy="2651760"/>
          </a:xfrm>
          <a:prstGeom prst="rect">
            <a:avLst/>
          </a:prstGeom>
          <a:solidFill>
            <a:srgbClr val="5D5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523744"/>
            <a:ext cx="2002536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Person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063240"/>
            <a:ext cx="2002536" cy="17190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616B7C"/>
                </a:solidFill>
                <a:latin typeface="Aptos"/>
              </a:defRPr>
            </a:pPr>
            <a:r>
              <a:t>•  Sicherung</a:t>
            </a:r>
          </a:p>
          <a:p>
            <a:pPr>
              <a:spcAft>
                <a:spcPts val="1000"/>
              </a:spcAft>
              <a:defRPr sz="1300">
                <a:solidFill>
                  <a:srgbClr val="616B7C"/>
                </a:solidFill>
                <a:latin typeface="Aptos"/>
              </a:defRPr>
            </a:pPr>
            <a:r>
              <a:t>•  Vor- und Nachteile abwägen · Hausaufgabe erklären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AKTIVIERUNG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D19D3D"/>
                </a:solidFill>
                <a:latin typeface="Aptos"/>
              </a:defRPr>
            </a:pPr>
            <a:r>
              <a:t>10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576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C9CDD5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C9CDD5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Kurzquiz: Welche Lösung passt?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D2D7DF"/>
                </a:solidFill>
                <a:latin typeface="Aptos"/>
              </a:defRPr>
            </a:pPr>
            <a:r>
              <a:t>Erst abstimmen lassen – dann begründen.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084831"/>
            <a:ext cx="10789920" cy="841248"/>
          </a:xfrm>
          <a:prstGeom prst="roundRect">
            <a:avLst>
              <a:gd name="adj" fmla="val 8000"/>
            </a:avLst>
          </a:prstGeom>
          <a:solidFill>
            <a:srgbClr val="2B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286000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1">
                <a:solidFill>
                  <a:srgbClr val="D19D3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231136"/>
            <a:ext cx="6126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Wozu dienten Aquädukte hauptsächlich?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9424"/>
            <a:ext cx="31546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DBE0E8"/>
                </a:solidFill>
                <a:latin typeface="Aptos"/>
              </a:defRPr>
            </a:pPr>
            <a:r>
              <a:t>Lösung: Frischwasser für die Stadt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182111"/>
            <a:ext cx="10789920" cy="841248"/>
          </a:xfrm>
          <a:prstGeom prst="roundRect">
            <a:avLst>
              <a:gd name="adj" fmla="val 8000"/>
            </a:avLst>
          </a:prstGeom>
          <a:solidFill>
            <a:srgbClr val="2B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383279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1">
                <a:solidFill>
                  <a:srgbClr val="D19D3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28415"/>
            <a:ext cx="6126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Warum war der Tiber wichtig?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346703"/>
            <a:ext cx="31546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DBE0E8"/>
                </a:solidFill>
                <a:latin typeface="Aptos"/>
              </a:defRPr>
            </a:pPr>
            <a:r>
              <a:t>Lösung: Handel, Transport und Wasserzugang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279392"/>
            <a:ext cx="10789920" cy="841248"/>
          </a:xfrm>
          <a:prstGeom prst="roundRect">
            <a:avLst>
              <a:gd name="adj" fmla="val 8000"/>
            </a:avLst>
          </a:prstGeom>
          <a:solidFill>
            <a:srgbClr val="2B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480559"/>
            <a:ext cx="5029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1">
                <a:solidFill>
                  <a:srgbClr val="D19D3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425696"/>
            <a:ext cx="61264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Welches Problem hatten viele Insulae?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443983"/>
            <a:ext cx="315468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200" b="0">
                <a:solidFill>
                  <a:srgbClr val="DBE0E8"/>
                </a:solidFill>
                <a:latin typeface="Aptos"/>
              </a:defRPr>
            </a:pPr>
            <a:r>
              <a:t>Lösung: Enge und Brandgefahr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616B7C"/>
                </a:solidFill>
                <a:latin typeface="Aptos"/>
              </a:defRPr>
            </a:pPr>
            <a:r>
              <a:t>SICHERUNG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B84D34"/>
                </a:solidFill>
                <a:latin typeface="Aptos"/>
              </a:defRPr>
            </a:pPr>
            <a:r>
              <a:t>11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D6CF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616B7C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616B7C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192237"/>
                </a:solidFill>
                <a:latin typeface="Aptos"/>
              </a:defRPr>
            </a:pPr>
            <a:r>
              <a:t>Urteil bilden: bewundernswert oder problematisch?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616B7C"/>
                </a:solidFill>
                <a:latin typeface="Aptos"/>
              </a:defRPr>
            </a:pPr>
            <a:r>
              <a:t>Gute historische Urteile nennen beide Seiten und gewichten sie.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240280"/>
            <a:ext cx="51663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240280"/>
            <a:ext cx="91440" cy="2514600"/>
          </a:xfrm>
          <a:prstGeom prst="rect">
            <a:avLst/>
          </a:prstGeom>
          <a:solidFill>
            <a:srgbClr val="537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78024"/>
            <a:ext cx="47274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BEWUNDERNSWERT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727448" cy="1581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616B7C"/>
                </a:solidFill>
                <a:latin typeface="Aptos"/>
              </a:defRPr>
            </a:pPr>
            <a:r>
              <a:t>•  Ausgeklügelte Versorgung</a:t>
            </a:r>
          </a:p>
          <a:p>
            <a:pPr>
              <a:spcAft>
                <a:spcPts val="1000"/>
              </a:spcAft>
              <a:defRPr sz="1300">
                <a:solidFill>
                  <a:srgbClr val="616B7C"/>
                </a:solidFill>
                <a:latin typeface="Aptos"/>
              </a:defRPr>
            </a:pPr>
            <a:r>
              <a:t>•  Öffentliche Räume und Austausch</a:t>
            </a:r>
          </a:p>
          <a:p>
            <a:pPr>
              <a:spcAft>
                <a:spcPts val="1000"/>
              </a:spcAft>
              <a:defRPr sz="1300">
                <a:solidFill>
                  <a:srgbClr val="616B7C"/>
                </a:solidFill>
                <a:latin typeface="Aptos"/>
              </a:defRPr>
            </a:pPr>
            <a:r>
              <a:t>•  Verbindungen in das gesamte Reich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2" y="2240280"/>
            <a:ext cx="516636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08192" y="2240280"/>
            <a:ext cx="91440" cy="2514600"/>
          </a:xfrm>
          <a:prstGeom prst="rect">
            <a:avLst/>
          </a:prstGeom>
          <a:solidFill>
            <a:srgbClr val="B84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2478024"/>
            <a:ext cx="4727448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PROBLEMATISCH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3017520"/>
            <a:ext cx="4727448" cy="158191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300" b="0">
                <a:solidFill>
                  <a:srgbClr val="616B7C"/>
                </a:solidFill>
                <a:latin typeface="Aptos"/>
              </a:defRPr>
            </a:pPr>
            <a:r>
              <a:t>•  Ungleiche Lebensbedingungen</a:t>
            </a:r>
          </a:p>
          <a:p>
            <a:pPr>
              <a:spcAft>
                <a:spcPts val="1000"/>
              </a:spcAft>
              <a:defRPr sz="1300">
                <a:solidFill>
                  <a:srgbClr val="616B7C"/>
                </a:solidFill>
                <a:latin typeface="Aptos"/>
              </a:defRPr>
            </a:pPr>
            <a:r>
              <a:t>•  Gesundheits- und Brandrisiken</a:t>
            </a:r>
          </a:p>
          <a:p>
            <a:pPr>
              <a:spcAft>
                <a:spcPts val="1000"/>
              </a:spcAft>
              <a:defRPr sz="1300">
                <a:solidFill>
                  <a:srgbClr val="616B7C"/>
                </a:solidFill>
                <a:latin typeface="Aptos"/>
              </a:defRPr>
            </a:pPr>
            <a:r>
              <a:t>•  Hoher Bedarf an Gütern und Kontrolle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5285232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1">
                <a:solidFill>
                  <a:srgbClr val="192237"/>
                </a:solidFill>
                <a:latin typeface="Aptos"/>
              </a:defRPr>
            </a:pPr>
            <a:r>
              <a:t>Urteilssatz: „Rom war leistungsfähig, weil …; zugleich war das Leben schwierig, weil …“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38912"/>
            <a:ext cx="530352" cy="73152"/>
          </a:xfrm>
          <a:prstGeom prst="rect">
            <a:avLst/>
          </a:prstGeom>
          <a:solidFill>
            <a:srgbClr val="D19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70432" y="292608"/>
            <a:ext cx="7955279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ptos"/>
              </a:defRPr>
            </a:pPr>
            <a:r>
              <a:t>ABSCHLUSS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292608"/>
            <a:ext cx="640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1100" b="1">
                <a:solidFill>
                  <a:srgbClr val="D19D3D"/>
                </a:solidFill>
                <a:latin typeface="Aptos"/>
              </a:defRPr>
            </a:pPr>
            <a:r>
              <a:t>12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6400800"/>
            <a:ext cx="11064240" cy="0"/>
          </a:xfrm>
          <a:prstGeom prst="line">
            <a:avLst/>
          </a:prstGeom>
          <a:ln w="10160">
            <a:solidFill>
              <a:srgbClr val="5761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92240"/>
            <a:ext cx="47548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800" b="1">
                <a:solidFill>
                  <a:srgbClr val="C9CDD5"/>
                </a:solidFill>
                <a:latin typeface="Aptos"/>
              </a:defRPr>
            </a:pPr>
            <a:r>
              <a:t>ANTIKE STÄDTE · 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6492240"/>
            <a:ext cx="338328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r">
              <a:defRPr sz="800" b="1">
                <a:solidFill>
                  <a:srgbClr val="C9CDD5"/>
                </a:solidFill>
                <a:latin typeface="Aptos"/>
              </a:defRPr>
            </a:pPr>
            <a:r>
              <a:t>45 MINUTEN · 4 VORTRAGENDE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841248"/>
            <a:ext cx="1051560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Was nehmen wir mit?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1536192"/>
            <a:ext cx="98755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500" b="0">
                <a:solidFill>
                  <a:srgbClr val="D2D7DF"/>
                </a:solidFill>
                <a:latin typeface="Aptos"/>
              </a:defRPr>
            </a:pPr>
            <a:r>
              <a:t>Ein klarer Abschluss sichert das Lernen.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21408"/>
            <a:ext cx="6629400" cy="2788920"/>
          </a:xfrm>
          <a:prstGeom prst="roundRect">
            <a:avLst>
              <a:gd name="adj" fmla="val 8000"/>
            </a:avLst>
          </a:prstGeom>
          <a:solidFill>
            <a:srgbClr val="2B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50592"/>
            <a:ext cx="598932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1">
                <a:solidFill>
                  <a:srgbClr val="D19D3D"/>
                </a:solidFill>
                <a:latin typeface="Aptos"/>
              </a:defRPr>
            </a:pPr>
            <a:r>
              <a:t>EXIT-TICKET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2880360"/>
            <a:ext cx="5897880" cy="16916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1000"/>
              </a:spcAft>
              <a:defRPr sz="1600" b="0">
                <a:solidFill>
                  <a:srgbClr val="FFFFFF"/>
                </a:solidFill>
                <a:latin typeface="Aptos"/>
              </a:defRPr>
            </a:pPr>
            <a:r>
              <a:t>•  Nenne einen Standortvorteil Roms.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Erkläre einen Vorteil und einen Nachteil des Stadtlebens.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Formuliere eine Frage, die du weiter untersuchen möchtest.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2121408"/>
            <a:ext cx="3840480" cy="2788920"/>
          </a:xfrm>
          <a:prstGeom prst="roundRect">
            <a:avLst>
              <a:gd name="adj" fmla="val 8000"/>
            </a:avLst>
          </a:prstGeom>
          <a:solidFill>
            <a:srgbClr val="2B3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73568" y="2450592"/>
            <a:ext cx="3154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300" b="1">
                <a:solidFill>
                  <a:srgbClr val="D19D3D"/>
                </a:solidFill>
                <a:latin typeface="Aptos"/>
              </a:defRPr>
            </a:pPr>
            <a:r>
              <a:t>HAUSAUFGABE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3568" y="2880360"/>
            <a:ext cx="3154680" cy="1417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Vergleiche Rom mit einer heutigen Stadt: zwei Gemeinsamkeiten, zwei Unterschiede – und ein begründetes Urteil.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4924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defRPr sz="1300" b="0">
                <a:solidFill>
                  <a:srgbClr val="DBE0E8"/>
                </a:solidFill>
                <a:latin typeface="Aptos"/>
              </a:defRPr>
            </a:pPr>
            <a:r>
              <a:t>Danke – die Präsentation ist vollständig editierbar. Eigene Visuals können auf den vorgesehenen Folien ergänzt werden.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Antike Städte am Beispiel Rom</dc:title>
  <dc:subject>45-Minuten-Unterrichtsstunde</dc:subject>
  <dc:creator>Antikes Rom Unterricht</dc:creator>
  <cp:keywords>Rom, Antike, Geschichte, Unterricht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