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1A1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xisting.jpg"/>
          <p:cNvPicPr>
            <a:picLocks noChangeAspect="1"/>
          </p:cNvPicPr>
          <p:nvPr/>
        </p:nvPicPr>
        <p:blipFill>
          <a:blip r:embed="rId2"/>
          <a:srcRect t="12980" b="1298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1A18"/>
          </a:solidFill>
          <a:ln>
            <a:solidFill>
              <a:srgbClr val="251A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solidFill>
            <a:srgbClr val="4B211D"/>
          </a:solidFill>
          <a:ln>
            <a:solidFill>
              <a:srgbClr val="4B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502920"/>
            <a:ext cx="1417320" cy="310896"/>
          </a:xfrm>
          <a:prstGeom prst="roundRect">
            <a:avLst>
              <a:gd name="adj" fmla="val 8000"/>
            </a:avLst>
          </a:prstGeom>
          <a:solidFill>
            <a:srgbClr val="C89B55"/>
          </a:solidFill>
          <a:ln>
            <a:solidFill>
              <a:srgbClr val="C8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544068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4B211D"/>
                </a:solidFill>
                <a:latin typeface="Aptos"/>
              </a:rPr>
              <a:t>UNTERRICHTSSTUNDE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61872"/>
            <a:ext cx="3749039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Das antike
Rom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999232"/>
            <a:ext cx="859536" cy="36576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246120"/>
            <a:ext cx="36576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89B55"/>
                </a:solidFill>
                <a:latin typeface="Aptos"/>
              </a:rPr>
              <a:t>STADT  ·  RAUM  ·  MACHT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22191"/>
            <a:ext cx="3657600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Wie prägte die Lage am Tiber das Leben
und Wachstum der Metropole?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6080760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DCCCBD"/>
                </a:solidFill>
                <a:latin typeface="Aptos"/>
              </a:rPr>
              <a:t>Daniel · Niko · David · Fritz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9376" y="6089904"/>
            <a:ext cx="5303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8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EINSTIEG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251A18"/>
                </a:solidFill>
                <a:latin typeface="Georgia"/>
              </a:rPr>
              <a:t>Rom aus der Vogelperspektive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7D2E24"/>
                </a:solidFill>
                <a:latin typeface="Aptos"/>
              </a:rPr>
              <a:t>02</a:t>
            </a:r>
          </a:p>
        </p:txBody>
      </p:sp>
      <p:pic>
        <p:nvPicPr>
          <p:cNvPr id="6" name="Picture 5" descr="existing.jpg"/>
          <p:cNvPicPr>
            <a:picLocks noChangeAspect="1"/>
          </p:cNvPicPr>
          <p:nvPr/>
        </p:nvPicPr>
        <p:blipFill>
          <a:blip r:embed="rId2"/>
          <a:srcRect t="4027" b="4027"/>
          <a:stretch>
            <a:fillRect/>
          </a:stretch>
        </p:blipFill>
        <p:spPr>
          <a:xfrm>
            <a:off x="621792" y="1572768"/>
            <a:ext cx="630936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" y="5266944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251A18"/>
          </a:solidFill>
          <a:ln>
            <a:solidFill>
              <a:srgbClr val="251A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394960"/>
            <a:ext cx="4983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SEHAUFTRAG  ·  60 SEKUNDEN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9344"/>
            <a:ext cx="416052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251A18"/>
                </a:solidFill>
                <a:latin typeface="Georgia"/>
              </a:rPr>
              <a:t>Was verrät die Stadtansicht über
Lage, Versorgung und Macht?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834640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834640"/>
            <a:ext cx="128016" cy="749808"/>
          </a:xfrm>
          <a:prstGeom prst="rect">
            <a:avLst/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6096" y="3017520"/>
            <a:ext cx="4023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953512"/>
            <a:ext cx="1143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Entdecken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1583" y="3227832"/>
            <a:ext cx="3063240" cy="1920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73665C"/>
                </a:solidFill>
                <a:latin typeface="Aptos"/>
              </a:rPr>
              <a:t>Markiere drei auffällige Strukturen.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3794760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60920" y="3794760"/>
            <a:ext cx="128016" cy="749808"/>
          </a:xfrm>
          <a:prstGeom prst="rect">
            <a:avLst/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3977640"/>
            <a:ext cx="4023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44A45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1583" y="3913632"/>
            <a:ext cx="1143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Vermuten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4187952"/>
            <a:ext cx="3063240" cy="1920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73665C"/>
                </a:solidFill>
                <a:latin typeface="Aptos"/>
              </a:rPr>
              <a:t>Formuliere eine Erklärung zur Lage.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4754880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4754880"/>
            <a:ext cx="128016" cy="749808"/>
          </a:xfrm>
          <a:prstGeom prst="rect">
            <a:avLst/>
          </a:prstGeom>
          <a:solidFill>
            <a:srgbClr val="C89B55"/>
          </a:solidFill>
          <a:ln>
            <a:solidFill>
              <a:srgbClr val="C8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4937760"/>
            <a:ext cx="40233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89B55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4873752"/>
            <a:ext cx="1143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Fragen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3" y="5148072"/>
            <a:ext cx="3063240" cy="1920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73665C"/>
                </a:solidFill>
                <a:latin typeface="Aptos"/>
              </a:rPr>
              <a:t>Notiere eine offene Frage.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3665C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1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89B55"/>
                </a:solidFill>
                <a:latin typeface="Aptos"/>
              </a:rPr>
              <a:t>ORIENTIERUNG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Georgia"/>
              </a:rPr>
              <a:t>Unser Weg durch die Stunde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C89B55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847088"/>
            <a:ext cx="1984248" cy="3566160"/>
          </a:xfrm>
          <a:prstGeom prst="roundRect">
            <a:avLst>
              <a:gd name="adj" fmla="val 8000"/>
            </a:avLst>
          </a:prstGeom>
          <a:solidFill>
            <a:srgbClr val="382824"/>
          </a:solidFill>
          <a:ln>
            <a:solidFill>
              <a:srgbClr val="5B4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48256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89B55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0784" y="2048256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50" b="1">
                <a:solidFill>
                  <a:srgbClr val="D6C6B5"/>
                </a:solidFill>
                <a:latin typeface="Aptos"/>
              </a:rPr>
              <a:t>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2505456"/>
            <a:ext cx="1609344" cy="18287"/>
          </a:xfrm>
          <a:prstGeom prst="rect">
            <a:avLst/>
          </a:prstGeom>
          <a:solidFill>
            <a:srgbClr val="7D2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798064"/>
            <a:ext cx="16002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Einstieg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75887"/>
            <a:ext cx="15727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D6C6B5"/>
                </a:solidFill>
                <a:latin typeface="Aptos"/>
              </a:rPr>
              <a:t>Stadtbild lesen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4754880"/>
            <a:ext cx="1572768" cy="91440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9504" y="1847088"/>
            <a:ext cx="1984248" cy="3566160"/>
          </a:xfrm>
          <a:prstGeom prst="roundRect">
            <a:avLst>
              <a:gd name="adj" fmla="val 8000"/>
            </a:avLst>
          </a:prstGeom>
          <a:solidFill>
            <a:srgbClr val="382824"/>
          </a:solidFill>
          <a:ln>
            <a:solidFill>
              <a:srgbClr val="5B4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048256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89B55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8496" y="2048256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50" b="1">
                <a:solidFill>
                  <a:srgbClr val="D6C6B5"/>
                </a:solidFill>
                <a:latin typeface="Aptos"/>
              </a:rPr>
              <a:t>7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72384" y="2505456"/>
            <a:ext cx="1609343" cy="18287"/>
          </a:xfrm>
          <a:prstGeom prst="rect">
            <a:avLst/>
          </a:prstGeom>
          <a:solidFill>
            <a:srgbClr val="7D2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72384" y="2798064"/>
            <a:ext cx="16002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Orientierung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3675887"/>
            <a:ext cx="15727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D6C6B5"/>
                </a:solidFill>
                <a:latin typeface="Aptos"/>
              </a:rPr>
              <a:t>Rom verorten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72384" y="4754880"/>
            <a:ext cx="1572768" cy="91440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57216" y="1847088"/>
            <a:ext cx="1984248" cy="3566160"/>
          </a:xfrm>
          <a:prstGeom prst="roundRect">
            <a:avLst>
              <a:gd name="adj" fmla="val 8000"/>
            </a:avLst>
          </a:prstGeom>
          <a:solidFill>
            <a:srgbClr val="382824"/>
          </a:solidFill>
          <a:ln>
            <a:solidFill>
              <a:srgbClr val="5B4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2048256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89B55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7" y="2048256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50" b="1">
                <a:solidFill>
                  <a:srgbClr val="D6C6B5"/>
                </a:solidFill>
                <a:latin typeface="Aptos"/>
              </a:rPr>
              <a:t>8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0096" y="2505456"/>
            <a:ext cx="1609343" cy="18287"/>
          </a:xfrm>
          <a:prstGeom prst="rect">
            <a:avLst/>
          </a:prstGeom>
          <a:solidFill>
            <a:srgbClr val="7D2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2798064"/>
            <a:ext cx="16002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Material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675887"/>
            <a:ext cx="15727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D6C6B5"/>
                </a:solidFill>
                <a:latin typeface="Aptos"/>
              </a:rPr>
              <a:t>Grafiken erschließen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40096" y="4754880"/>
            <a:ext cx="1572768" cy="91440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24927" y="1847088"/>
            <a:ext cx="1984248" cy="3566160"/>
          </a:xfrm>
          <a:prstGeom prst="roundRect">
            <a:avLst>
              <a:gd name="adj" fmla="val 8000"/>
            </a:avLst>
          </a:prstGeom>
          <a:solidFill>
            <a:srgbClr val="382824"/>
          </a:solidFill>
          <a:ln>
            <a:solidFill>
              <a:srgbClr val="5B4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807" y="2048256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89B55"/>
                </a:solidFill>
                <a:latin typeface="Apto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048256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50" b="1">
                <a:solidFill>
                  <a:srgbClr val="D6C6B5"/>
                </a:solidFill>
                <a:latin typeface="Aptos"/>
              </a:rPr>
              <a:t>15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807" y="2505456"/>
            <a:ext cx="1609343" cy="18287"/>
          </a:xfrm>
          <a:prstGeom prst="rect">
            <a:avLst/>
          </a:prstGeom>
          <a:solidFill>
            <a:srgbClr val="7D2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07807" y="2798064"/>
            <a:ext cx="16002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Arbeitsphase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7" y="3675887"/>
            <a:ext cx="15727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D6C6B5"/>
                </a:solidFill>
                <a:latin typeface="Aptos"/>
              </a:rPr>
              <a:t>Zusammenhänge erklären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07807" y="4754880"/>
            <a:ext cx="1572768" cy="91440"/>
          </a:xfrm>
          <a:prstGeom prst="roundRect">
            <a:avLst>
              <a:gd name="adj" fmla="val 8000"/>
            </a:avLst>
          </a:prstGeom>
          <a:solidFill>
            <a:srgbClr val="C89B55"/>
          </a:solidFill>
          <a:ln>
            <a:solidFill>
              <a:srgbClr val="C8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92640" y="1847088"/>
            <a:ext cx="1984248" cy="3566160"/>
          </a:xfrm>
          <a:prstGeom prst="roundRect">
            <a:avLst>
              <a:gd name="adj" fmla="val 8000"/>
            </a:avLst>
          </a:prstGeom>
          <a:solidFill>
            <a:srgbClr val="382824"/>
          </a:solidFill>
          <a:ln>
            <a:solidFill>
              <a:srgbClr val="5B4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19" y="2048256"/>
            <a:ext cx="4389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89B55"/>
                </a:solidFill>
                <a:latin typeface="Apto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71632" y="2048256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50" b="1">
                <a:solidFill>
                  <a:srgbClr val="D6C6B5"/>
                </a:solidFill>
                <a:latin typeface="Aptos"/>
              </a:rPr>
              <a:t>10 min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75519" y="2505456"/>
            <a:ext cx="1609343" cy="18287"/>
          </a:xfrm>
          <a:prstGeom prst="rect">
            <a:avLst/>
          </a:prstGeom>
          <a:solidFill>
            <a:srgbClr val="7D2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19" y="2798064"/>
            <a:ext cx="16002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Sicherung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19" y="3675887"/>
            <a:ext cx="157276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D6C6B5"/>
                </a:solidFill>
                <a:latin typeface="Aptos"/>
              </a:rPr>
              <a:t>Urteil formulieren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75519" y="4754880"/>
            <a:ext cx="1572768" cy="91440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5760720"/>
            <a:ext cx="10972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89B55"/>
                </a:solidFill>
                <a:latin typeface="Aptos"/>
              </a:rPr>
              <a:t>LEITFRAGE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5660136"/>
            <a:ext cx="9052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Warum konnte gerade hier eine Millionenstadt entstehen?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C8B9A8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8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ORIENTIERUNG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251A18"/>
                </a:solidFill>
                <a:latin typeface="Georgia"/>
              </a:rPr>
              <a:t>Rom: Lage als Standortvorteil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7D2E24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6812280" cy="4553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m-lageka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6364224" cy="41513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35824" y="1572768"/>
            <a:ext cx="3803904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35824" y="1572768"/>
            <a:ext cx="109728" cy="1261872"/>
          </a:xfrm>
          <a:prstGeom prst="rect">
            <a:avLst/>
          </a:prstGeom>
          <a:solidFill>
            <a:srgbClr val="4D8CAA"/>
          </a:solidFill>
          <a:ln>
            <a:solidFill>
              <a:srgbClr val="4D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28432" y="188366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4D8CAA"/>
          </a:solidFill>
          <a:ln>
            <a:solidFill>
              <a:srgbClr val="4D8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1906524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828800"/>
            <a:ext cx="27249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51A18"/>
                </a:solidFill>
                <a:latin typeface="Georgia"/>
              </a:rPr>
              <a:t>Tiber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31136"/>
            <a:ext cx="2724912" cy="43891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73665C"/>
                </a:solidFill>
                <a:latin typeface="Aptos"/>
              </a:rPr>
              <a:t>Wasserweg, Versorgung und Verbindung zum Meer.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35824" y="2990088"/>
            <a:ext cx="3803904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35824" y="2990088"/>
            <a:ext cx="109728" cy="1261872"/>
          </a:xfrm>
          <a:prstGeom prst="rect">
            <a:avLst/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8432" y="330098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3323844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246120"/>
            <a:ext cx="27249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51A18"/>
                </a:solidFill>
                <a:latin typeface="Georgia"/>
              </a:rPr>
              <a:t>Sieben Hügel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648456"/>
            <a:ext cx="2724912" cy="43891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73665C"/>
                </a:solidFill>
                <a:latin typeface="Aptos"/>
              </a:rPr>
              <a:t>Schutz, Überblick und klar gegliederte Siedlungsräume.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35824" y="4407408"/>
            <a:ext cx="3803904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35824" y="4407408"/>
            <a:ext cx="109728" cy="1261872"/>
          </a:xfrm>
          <a:prstGeom prst="rect">
            <a:avLst/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28432" y="471830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4741164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663440"/>
            <a:ext cx="27249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51A18"/>
                </a:solidFill>
                <a:latin typeface="Georgia"/>
              </a:rPr>
              <a:t>Ostia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065776"/>
            <a:ext cx="2724912" cy="43891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73665C"/>
                </a:solidFill>
                <a:latin typeface="Aptos"/>
              </a:rPr>
              <a:t>Hafen als Tor für Getreide, Waren und Menschen.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879592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D2E24"/>
                </a:solidFill>
                <a:latin typeface="Aptos"/>
              </a:rPr>
              <a:t>MERKSATZ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5815584"/>
            <a:ext cx="28803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251A18"/>
                </a:solidFill>
                <a:latin typeface="Aptos"/>
              </a:rPr>
              <a:t>Rom verband Schutz im Binnenland mit Zugang zum Mittelmeer.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3665C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8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STADTSTRUKTUR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251A18"/>
                </a:solidFill>
                <a:latin typeface="Georgia"/>
              </a:rPr>
              <a:t>Eine Metropole mit vielen Funktionen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7D2E24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7406640" cy="4553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m-stadt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7004304" cy="4069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627632"/>
            <a:ext cx="3218688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1856232"/>
            <a:ext cx="347472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7D2E24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42832" y="1746504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Forum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2832" y="2057400"/>
            <a:ext cx="228600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73665C"/>
                </a:solidFill>
                <a:latin typeface="Aptos"/>
              </a:rPr>
              <a:t>Politik, Recht, Religion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660904"/>
            <a:ext cx="3218688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4776" y="2889504"/>
            <a:ext cx="347472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7D2E24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2832" y="2779776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Insulae &amp; Domus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2832" y="3090672"/>
            <a:ext cx="228600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73665C"/>
                </a:solidFill>
                <a:latin typeface="Aptos"/>
              </a:rPr>
              <a:t>Wohnen mit großen Gegensätzen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694176"/>
            <a:ext cx="3218688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3922776"/>
            <a:ext cx="347472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7D2E24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3813048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Thermen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832" y="4123944"/>
            <a:ext cx="228600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73665C"/>
                </a:solidFill>
                <a:latin typeface="Aptos"/>
              </a:rPr>
              <a:t>Hygiene, Freizeit, Begegnung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727448"/>
            <a:ext cx="3218688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94776" y="4956048"/>
            <a:ext cx="347472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7D2E24"/>
                </a:solidFill>
                <a:latin typeface="Georg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4846320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51A18"/>
                </a:solidFill>
                <a:latin typeface="Georgia"/>
              </a:rPr>
              <a:t>Straßen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5157216"/>
            <a:ext cx="228600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73665C"/>
                </a:solidFill>
                <a:latin typeface="Aptos"/>
              </a:rPr>
              <a:t>Bewegung, Handel, Kontrolle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5760720"/>
            <a:ext cx="3218688" cy="365760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843016"/>
            <a:ext cx="321868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STADT = NETZWERK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3665C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89B55"/>
                </a:solidFill>
                <a:latin typeface="Aptos"/>
              </a:rPr>
              <a:t>INFRASTRUKTUR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Georgia"/>
              </a:rPr>
              <a:t>Wie Rom seine Größe organisierte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C89B55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6492240" cy="4553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m-wasser-wohn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801368"/>
            <a:ext cx="6071616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162763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89B55"/>
                </a:solidFill>
                <a:latin typeface="Aptos"/>
              </a:rPr>
              <a:t>WASSER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856232"/>
            <a:ext cx="3611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Georgia"/>
              </a:rPr>
              <a:t>Aquädukte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267712"/>
            <a:ext cx="370332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D3E0DC"/>
                </a:solidFill>
                <a:latin typeface="Aptos"/>
              </a:rPr>
              <a:t>Frischwasser über weite Strecken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2706624"/>
            <a:ext cx="3739896" cy="18288"/>
          </a:xfrm>
          <a:prstGeom prst="rect">
            <a:avLst/>
          </a:prstGeom>
          <a:solidFill>
            <a:srgbClr val="527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2907791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89B55"/>
                </a:solidFill>
                <a:latin typeface="Aptos"/>
              </a:rPr>
              <a:t>ABWASSER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136391"/>
            <a:ext cx="3611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Georgia"/>
              </a:rPr>
              <a:t>Cloaca Maxima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547872"/>
            <a:ext cx="370332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D3E0DC"/>
                </a:solidFill>
                <a:latin typeface="Aptos"/>
              </a:rPr>
              <a:t>Entwässerung und Stadthygiene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3986783"/>
            <a:ext cx="3739896" cy="18288"/>
          </a:xfrm>
          <a:prstGeom prst="rect">
            <a:avLst/>
          </a:prstGeom>
          <a:solidFill>
            <a:srgbClr val="527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18795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89B55"/>
                </a:solidFill>
                <a:latin typeface="Aptos"/>
              </a:rPr>
              <a:t>WOHNEN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416552"/>
            <a:ext cx="3611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Georgia"/>
              </a:rPr>
              <a:t>Insulae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828032"/>
            <a:ext cx="370332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D3E0DC"/>
                </a:solidFill>
                <a:latin typeface="Aptos"/>
              </a:rPr>
              <a:t>Dichte, aber auch Brandgefahr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5266944"/>
            <a:ext cx="3739896" cy="18288"/>
          </a:xfrm>
          <a:prstGeom prst="rect">
            <a:avLst/>
          </a:prstGeom>
          <a:solidFill>
            <a:srgbClr val="527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43800" y="5614416"/>
            <a:ext cx="3730752" cy="512064"/>
          </a:xfrm>
          <a:prstGeom prst="roundRect">
            <a:avLst>
              <a:gd name="adj" fmla="val 8000"/>
            </a:avLst>
          </a:prstGeom>
          <a:solidFill>
            <a:srgbClr val="C89B55"/>
          </a:solidFill>
          <a:ln>
            <a:solidFill>
              <a:srgbClr val="C8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5760720"/>
            <a:ext cx="373075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244A45"/>
                </a:solidFill>
                <a:latin typeface="Aptos"/>
              </a:rPr>
              <a:t>TECHNIK MACHT WACHSTUM MÖGLICH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C8B9A8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8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ARBEITSPHASE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251A18"/>
                </a:solidFill>
                <a:latin typeface="Georgia"/>
              </a:rPr>
              <a:t>Vom Beobachten zum Erklären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7D2E24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10972800" cy="658368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792224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89B55"/>
                </a:solidFill>
                <a:latin typeface="Aptos"/>
              </a:rPr>
              <a:t>AUFTRAG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1709928"/>
            <a:ext cx="92354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Aptos"/>
              </a:rPr>
              <a:t>Erklärt, wie Lage und Infrastruktur das Wachstum Roms ermöglichten.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560320"/>
            <a:ext cx="3438144" cy="2249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0392" y="278892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88036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761488"/>
            <a:ext cx="221284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251A18"/>
                </a:solidFill>
                <a:latin typeface="Georgia"/>
              </a:rPr>
              <a:t>Lage &amp; Handel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36392"/>
            <a:ext cx="223113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Tiber · Ostia · Mittelmeer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584448"/>
            <a:ext cx="2953512" cy="18288"/>
          </a:xfrm>
          <a:prstGeom prst="rect">
            <a:avLst/>
          </a:prstGeom>
          <a:solidFill>
            <a:srgbClr val="E6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803904"/>
            <a:ext cx="29260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73665C"/>
                </a:solidFill>
                <a:latin typeface="Aptos"/>
              </a:rPr>
              <a:t>Welche Wege verbanden Rom?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2560320"/>
            <a:ext cx="3438144" cy="2249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36007" y="278892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7" y="288036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5" y="2761488"/>
            <a:ext cx="221284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251A18"/>
                </a:solidFill>
                <a:latin typeface="Georgia"/>
              </a:rPr>
              <a:t>Wasser &amp; Hygiene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4375" y="3136392"/>
            <a:ext cx="223113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Aquädukt · Kanalisation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7" y="3584448"/>
            <a:ext cx="2953511" cy="18288"/>
          </a:xfrm>
          <a:prstGeom prst="rect">
            <a:avLst/>
          </a:prstGeom>
          <a:solidFill>
            <a:srgbClr val="E6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7" y="3803904"/>
            <a:ext cx="29260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73665C"/>
                </a:solidFill>
                <a:latin typeface="Aptos"/>
              </a:rPr>
              <a:t>Welche Probleme löste Technik?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3" y="2560320"/>
            <a:ext cx="3438144" cy="2249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1624" y="278892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C89B55"/>
          </a:solidFill>
          <a:ln>
            <a:solidFill>
              <a:srgbClr val="C8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1624" y="288036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51A18"/>
                </a:solidFill>
                <a:latin typeface="Georgia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2761488"/>
            <a:ext cx="221284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251A18"/>
                </a:solidFill>
                <a:latin typeface="Georgia"/>
              </a:rPr>
              <a:t>Wohnen &amp; Alltag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136392"/>
            <a:ext cx="223113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Insulae · Domus · Thermen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21624" y="3584448"/>
            <a:ext cx="2953512" cy="18288"/>
          </a:xfrm>
          <a:prstGeom prst="rect">
            <a:avLst/>
          </a:prstGeom>
          <a:solidFill>
            <a:srgbClr val="E6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1624" y="3803904"/>
            <a:ext cx="29260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73665C"/>
                </a:solidFill>
                <a:latin typeface="Aptos"/>
              </a:rPr>
              <a:t>Wer lebte wie in der Stadt?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" y="5184648"/>
            <a:ext cx="10972800" cy="804672"/>
          </a:xfrm>
          <a:prstGeom prst="roundRect">
            <a:avLst>
              <a:gd name="adj" fmla="val 8000"/>
            </a:avLst>
          </a:prstGeom>
          <a:solidFill>
            <a:srgbClr val="251A18"/>
          </a:solidFill>
          <a:ln>
            <a:solidFill>
              <a:srgbClr val="251A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376672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19" b="1">
                <a:solidFill>
                  <a:srgbClr val="C89B55"/>
                </a:solidFill>
                <a:latin typeface="Aptos"/>
              </a:rPr>
              <a:t>01 ANALYSIEREN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32704"/>
            <a:ext cx="24871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2 Belege markieren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5376672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19" b="1">
                <a:solidFill>
                  <a:srgbClr val="C89B55"/>
                </a:solidFill>
                <a:latin typeface="Aptos"/>
              </a:rPr>
              <a:t>02 VERKNÜPFEN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632704"/>
            <a:ext cx="24871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Ursache → Wirkung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5376672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19" b="1">
                <a:solidFill>
                  <a:srgbClr val="C89B55"/>
                </a:solidFill>
                <a:latin typeface="Aptos"/>
              </a:rPr>
              <a:t>03 PRÄSENTIEREN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5632704"/>
            <a:ext cx="24871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60-Sekunden-Statement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3665C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8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D2E24"/>
                </a:solidFill>
                <a:latin typeface="Aptos"/>
              </a:rPr>
              <a:t>SICHERUNG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6984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251A18"/>
                </a:solidFill>
                <a:latin typeface="Georgia"/>
              </a:rPr>
              <a:t>Warum wurde Rom zur Metropole?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25296"/>
            <a:ext cx="10351008" cy="22859"/>
          </a:xfrm>
          <a:prstGeom prst="rect">
            <a:avLst/>
          </a:prstGeom>
          <a:solidFill>
            <a:srgbClr val="C8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91088" y="384048"/>
            <a:ext cx="548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7D2E24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36576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7D2E24"/>
                </a:solidFill>
                <a:latin typeface="Georgia"/>
              </a:rPr>
              <a:t>Gemeinsame Erklärung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084831"/>
            <a:ext cx="192024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" y="2084831"/>
            <a:ext cx="1920240" cy="310896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57984"/>
            <a:ext cx="1700784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LAGE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06040"/>
            <a:ext cx="162763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251A18"/>
                </a:solidFill>
                <a:latin typeface="Georgia"/>
              </a:rPr>
              <a:t>Tiber +
Mittelmeer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2032" y="2596896"/>
            <a:ext cx="34747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C89B55"/>
                </a:solidFill>
                <a:latin typeface="Georgi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2084831"/>
            <a:ext cx="192024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9504" y="2084831"/>
            <a:ext cx="1920240" cy="310896"/>
          </a:xfrm>
          <a:prstGeom prst="roundRect">
            <a:avLst>
              <a:gd name="adj" fmla="val 8000"/>
            </a:avLst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157984"/>
            <a:ext cx="1700784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VERSORGUNG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2606040"/>
            <a:ext cx="162763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251A18"/>
                </a:solidFill>
                <a:latin typeface="Georgia"/>
              </a:rPr>
              <a:t>Wasser +
Getreide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2596896"/>
            <a:ext cx="34747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C89B55"/>
                </a:solidFill>
                <a:latin typeface="Georgia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7216" y="2084831"/>
            <a:ext cx="192024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7216" y="2084831"/>
            <a:ext cx="1920240" cy="310896"/>
          </a:xfrm>
          <a:prstGeom prst="roundRect">
            <a:avLst>
              <a:gd name="adj" fmla="val 8000"/>
            </a:avLst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157984"/>
            <a:ext cx="1700784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INFRASTRUKTUR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606040"/>
            <a:ext cx="162763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251A18"/>
                </a:solidFill>
                <a:latin typeface="Georgia"/>
              </a:rPr>
              <a:t>Straßen +
Kanäle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6" y="2596896"/>
            <a:ext cx="34747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C89B55"/>
                </a:solidFill>
                <a:latin typeface="Georgia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4927" y="2084831"/>
            <a:ext cx="192024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24927" y="2084831"/>
            <a:ext cx="1920240" cy="310896"/>
          </a:xfrm>
          <a:prstGeom prst="roundRect">
            <a:avLst>
              <a:gd name="adj" fmla="val 8000"/>
            </a:avLst>
          </a:prstGeom>
          <a:solidFill>
            <a:srgbClr val="244A45"/>
          </a:solidFill>
          <a:ln>
            <a:solidFill>
              <a:srgbClr val="244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5" y="2157984"/>
            <a:ext cx="1700784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WACHSTUM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606040"/>
            <a:ext cx="162763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251A18"/>
                </a:solidFill>
                <a:latin typeface="Georgia"/>
              </a:rPr>
              <a:t>Menschen +
Handel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2596896"/>
            <a:ext cx="34747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C89B55"/>
                </a:solidFill>
                <a:latin typeface="Georgia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2084831"/>
            <a:ext cx="192024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2084831"/>
            <a:ext cx="1920240" cy="310896"/>
          </a:xfrm>
          <a:prstGeom prst="roundRect">
            <a:avLst>
              <a:gd name="adj" fmla="val 8000"/>
            </a:avLst>
          </a:prstGeom>
          <a:solidFill>
            <a:srgbClr val="7D2E24"/>
          </a:solidFill>
          <a:ln>
            <a:solidFill>
              <a:srgbClr val="7D2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02367" y="2157984"/>
            <a:ext cx="1700784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MACHT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2606040"/>
            <a:ext cx="162763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251A18"/>
                </a:solidFill>
                <a:latin typeface="Georgia"/>
              </a:rPr>
              <a:t>Kontrolle +
Repräsentation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3941063"/>
            <a:ext cx="6812280" cy="1572768"/>
          </a:xfrm>
          <a:prstGeom prst="roundRect">
            <a:avLst>
              <a:gd name="adj" fmla="val 8000"/>
            </a:avLst>
          </a:prstGeom>
          <a:solidFill>
            <a:srgbClr val="251A18"/>
          </a:solidFill>
          <a:ln>
            <a:solidFill>
              <a:srgbClr val="251A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06240"/>
            <a:ext cx="822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89B55"/>
                </a:solidFill>
                <a:latin typeface="Aptos"/>
              </a:rPr>
              <a:t>URTEIL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535424"/>
            <a:ext cx="59893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Georgia"/>
              </a:rPr>
              <a:t>Rom wuchs nicht trotz seiner Lage,
sondern durch ihre gezielte Nutzung.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35824" y="3941063"/>
            <a:ext cx="380390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6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0144" y="4206240"/>
            <a:ext cx="12344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7D2E24"/>
                </a:solidFill>
                <a:latin typeface="Aptos"/>
              </a:rPr>
              <a:t>EXIT-TICKET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4" y="4572000"/>
            <a:ext cx="315468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251A18"/>
                </a:solidFill>
                <a:latin typeface="Georgia"/>
              </a:rPr>
              <a:t>Der wichtigste Standortvorteil war …,
weil 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4" y="5815584"/>
            <a:ext cx="380390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73665C"/>
                </a:solidFill>
                <a:latin typeface="Aptos"/>
              </a:rPr>
              <a:t>Schematische Darstellungen · nicht maßstabsgetreu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6510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3665C"/>
                </a:solidFill>
                <a:latin typeface="Aptos"/>
              </a:rPr>
              <a:t>ANTIKES ROM  ·  RAUM VERSTEHEN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antike Rom – Stadt, Raum, Macht</dc:title>
  <dc:subject>Unterrichtspräsentation zu Lage, Stadtstruktur und Infrastruktur des antiken Rom</dc:subject>
  <dc:creator>Daniel, Niko, David, Fritz</dc:creator>
  <cp:keywords>Antikes Rom, Geographie, Unterricht, Tiber, Infrastruktur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